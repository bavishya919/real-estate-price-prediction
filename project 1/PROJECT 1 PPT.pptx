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8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0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00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52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2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55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21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6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4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79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1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8086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77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77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36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91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27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6840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4791" y="320040"/>
            <a:ext cx="10058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Real Estate Investment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with Predictive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376" y="2090682"/>
            <a:ext cx="1050981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 estate market involves large investments, making accurate property valuation important for investors and buyers.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prices depend on several factors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location, quality, living area, construction, garage, basement, and property condition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valuation methods may not fully capture the complex relationships between these factors.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property data and learn patterns that influence property prices.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residential property prices and identify the most important factors affecting valuation.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can help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Surprise Housing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better investment decisions and identify potentially valuable properties.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achine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Based Residential Property Price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799" y="308465"/>
            <a:ext cx="53914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7078" y="1318022"/>
            <a:ext cx="1048666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Type: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– Regression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 residential property prices using historical housing data.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Ames Housing Dataset –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1,460 records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SalePrice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 Quality, Living Area, Basement Area, Garage Area, Lot Area, Year Built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Missing-value handling, encoding, scaling, and feature engineering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Regression, Ridge, Lasso, Random Forest, Gradient Boosting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Gradient Boosting Regressor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= $35,538.86 | R² = 0.819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property valuation, investment screening, price comparison, and data-driven decisions.</a:t>
            </a:r>
          </a:p>
          <a:p>
            <a:pPr>
              <a:spcAft>
                <a:spcPts val="1000"/>
              </a:spcAft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79587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380176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predicting residential property prices is challenging due to the complex relationship between property features, making data-driven valuation essential for better investment decisions.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residential property prices.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factors influencing property prices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multiple ML algorithms and select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best-performing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the selected model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prediction accuracy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to support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real estate investment decisions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dirty="0"/>
          </a:p>
          <a:p>
            <a:pPr>
              <a:spcAft>
                <a:spcPts val="1000"/>
              </a:spcAft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1157" y="597832"/>
            <a:ext cx="74590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rPr sz="3600" dirty="0"/>
              <a:t>Data Collection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16405"/>
            <a:ext cx="10507498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Ames Housing Dataset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1,460 property records and 81 features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SalePrice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actual selling price of each property.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Handled missing values and separated the Id column from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Data: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categories were treated appropriately and converted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Data: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numerical values were handled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median/zero imputation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appropriate.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Numerical features were standardized using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Prepared a clean dataset suitable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training and evaluation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2812" y="184401"/>
            <a:ext cx="31347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Findings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3C3817-F6A3-8BBD-1236-5BC5F0113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15" y="1644885"/>
            <a:ext cx="4318201" cy="24074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69CFBF-6A73-BE37-15FE-9F7F327C6A4F}"/>
              </a:ext>
            </a:extLst>
          </p:cNvPr>
          <p:cNvSpPr txBox="1"/>
          <p:nvPr/>
        </p:nvSpPr>
        <p:spPr>
          <a:xfrm>
            <a:off x="762000" y="4088276"/>
            <a:ext cx="469254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properties are concentrated in the lower-to-middle price range.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 smaller number of high-priced properties.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price is approximately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$181,477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compared with a median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$163,995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2E74-8884-6C35-F51E-33C4B17976D8}"/>
              </a:ext>
            </a:extLst>
          </p:cNvPr>
          <p:cNvSpPr txBox="1"/>
          <p:nvPr/>
        </p:nvSpPr>
        <p:spPr>
          <a:xfrm>
            <a:off x="820416" y="1166822"/>
            <a:ext cx="4318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1: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SalePrice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379360-B8F2-54B5-F7CE-9E77DF776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331" y="1644885"/>
            <a:ext cx="4911523" cy="24074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4BFA57-0D57-3B1E-44E4-681A8EC78595}"/>
              </a:ext>
            </a:extLst>
          </p:cNvPr>
          <p:cNvSpPr txBox="1"/>
          <p:nvPr/>
        </p:nvSpPr>
        <p:spPr>
          <a:xfrm>
            <a:off x="5926238" y="1166822"/>
            <a:ext cx="4911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2: Correlation Heatmap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B3C87-57C6-17E7-08FA-5F6F0DAF6E6F}"/>
              </a:ext>
            </a:extLst>
          </p:cNvPr>
          <p:cNvSpPr txBox="1"/>
          <p:nvPr/>
        </p:nvSpPr>
        <p:spPr>
          <a:xfrm>
            <a:off x="5926238" y="4272677"/>
            <a:ext cx="506971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OverallQual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strongest correlation with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SalePrice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0.789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GrLivArea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second strongest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0.707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GarageCars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GarageArea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TotalBsmtSF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1stFlrSF also show strong positive relationships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C76D1-A40C-1D09-3008-0FCA71CD08E1}"/>
              </a:ext>
            </a:extLst>
          </p:cNvPr>
          <p:cNvSpPr txBox="1"/>
          <p:nvPr/>
        </p:nvSpPr>
        <p:spPr>
          <a:xfrm>
            <a:off x="682906" y="364745"/>
            <a:ext cx="4988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3: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OverallQual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SalePrice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90250A-F732-4001-39C4-C00171C02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79" y="1026465"/>
            <a:ext cx="4638796" cy="29978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4EEB01-AE7E-7287-5D7A-E02A7E8F93A3}"/>
              </a:ext>
            </a:extLst>
          </p:cNvPr>
          <p:cNvSpPr txBox="1"/>
          <p:nvPr/>
        </p:nvSpPr>
        <p:spPr>
          <a:xfrm>
            <a:off x="741311" y="4064776"/>
            <a:ext cx="521753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OverallQual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generally leads to higher property prices.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clear upward trend is visible across quality ratings.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confirms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OverallQual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major price-related feature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84FAE-1D0F-DC9A-BD76-0CEC4ED0D5CE}"/>
              </a:ext>
            </a:extLst>
          </p:cNvPr>
          <p:cNvSpPr txBox="1"/>
          <p:nvPr/>
        </p:nvSpPr>
        <p:spPr>
          <a:xfrm>
            <a:off x="6388327" y="364745"/>
            <a:ext cx="4242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4: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GrLivArea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SalePrice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F54388-850B-0A43-A397-B0647236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927" y="902825"/>
            <a:ext cx="5297346" cy="29978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AC9B38-A1C4-10A8-3E70-7E35AD37AFA3}"/>
              </a:ext>
            </a:extLst>
          </p:cNvPr>
          <p:cNvSpPr txBox="1"/>
          <p:nvPr/>
        </p:nvSpPr>
        <p:spPr>
          <a:xfrm>
            <a:off x="6235927" y="4172497"/>
            <a:ext cx="56715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above-ground living areas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generally have higher sale prices.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is positive but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perfectly linear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with similar living areas can still have different prices because of quality, location and other characteristics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0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2916" y="320040"/>
            <a:ext cx="376256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057C87-6250-9D4A-6100-E2AA39AD4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244600"/>
            <a:ext cx="5446396" cy="354647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58F1440-24A1-0F4F-B25F-7F082E727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30275"/>
              </p:ext>
            </p:extLst>
          </p:nvPr>
        </p:nvGraphicFramePr>
        <p:xfrm>
          <a:off x="6400800" y="1244601"/>
          <a:ext cx="5405120" cy="3408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534782064"/>
                    </a:ext>
                  </a:extLst>
                </a:gridCol>
                <a:gridCol w="1489393">
                  <a:extLst>
                    <a:ext uri="{9D8B030D-6E8A-4147-A177-3AD203B41FA5}">
                      <a16:colId xmlns:a16="http://schemas.microsoft.com/office/drawing/2014/main" val="1562887590"/>
                    </a:ext>
                  </a:extLst>
                </a:gridCol>
                <a:gridCol w="1782127">
                  <a:extLst>
                    <a:ext uri="{9D8B030D-6E8A-4147-A177-3AD203B41FA5}">
                      <a16:colId xmlns:a16="http://schemas.microsoft.com/office/drawing/2014/main" val="532684464"/>
                    </a:ext>
                  </a:extLst>
                </a:gridCol>
              </a:tblGrid>
              <a:tr h="518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0807380"/>
                  </a:ext>
                </a:extLst>
              </a:tr>
              <a:tr h="518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55,206.38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896212"/>
                  </a:ext>
                </a:extLst>
              </a:tr>
              <a:tr h="8166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Ridge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44,635.85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5621781"/>
                  </a:ext>
                </a:extLst>
              </a:tr>
              <a:tr h="518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Lasso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51,195.56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104761"/>
                  </a:ext>
                </a:extLst>
              </a:tr>
              <a:tr h="518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40,649.85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779714"/>
                  </a:ext>
                </a:extLst>
              </a:tr>
              <a:tr h="518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36,178.66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18890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0E498D0-CDED-C28F-A872-9450C2CB5126}"/>
              </a:ext>
            </a:extLst>
          </p:cNvPr>
          <p:cNvSpPr txBox="1"/>
          <p:nvPr/>
        </p:nvSpPr>
        <p:spPr>
          <a:xfrm>
            <a:off x="782320" y="5164127"/>
            <a:ext cx="995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achieved the lowest RMSE and highest R², making it the best-performing initial model.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61004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4722796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Model: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Gradient Boosting Regressor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Method: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5-Fold Cross-Validation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Tuned: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Estimators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Depth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Samples Leaf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Subsample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Parameters: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200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0.10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min_samples_leaf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subsample = 0.80</a:t>
            </a:r>
          </a:p>
          <a:p>
            <a:pPr>
              <a:spcAft>
                <a:spcPts val="1000"/>
              </a:spcAft>
              <a:defRPr sz="1800"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6F81D1-F770-75F6-E6FD-D7CE3F702D93}"/>
              </a:ext>
            </a:extLst>
          </p:cNvPr>
          <p:cNvSpPr txBox="1"/>
          <p:nvPr/>
        </p:nvSpPr>
        <p:spPr>
          <a:xfrm>
            <a:off x="5694948" y="1234440"/>
            <a:ext cx="450414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Improvement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Tuning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$36,178.66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0.8124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Tuning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$35,538.86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0.8190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70592-B552-1451-82B7-656EE5BC31E4}"/>
              </a:ext>
            </a:extLst>
          </p:cNvPr>
          <p:cNvSpPr txBox="1"/>
          <p:nvPr/>
        </p:nvSpPr>
        <p:spPr>
          <a:xfrm>
            <a:off x="5694948" y="4463415"/>
            <a:ext cx="59548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improved the Gradient Boosting model, achieving lower prediction error and higher R².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880" y="264488"/>
            <a:ext cx="324960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Performance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Tuned Gradient Boosting Regressor</a:t>
            </a:r>
          </a:p>
          <a:p>
            <a:pPr>
              <a:spcAft>
                <a:spcPts val="1000"/>
              </a:spcAft>
              <a:defRPr sz="1800"/>
            </a:pP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15A5C1-D775-F084-4412-8EF10AC7B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116450"/>
              </p:ext>
            </p:extLst>
          </p:nvPr>
        </p:nvGraphicFramePr>
        <p:xfrm>
          <a:off x="816076" y="1970799"/>
          <a:ext cx="9537292" cy="11892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68646">
                  <a:extLst>
                    <a:ext uri="{9D8B030D-6E8A-4147-A177-3AD203B41FA5}">
                      <a16:colId xmlns:a16="http://schemas.microsoft.com/office/drawing/2014/main" val="1565310200"/>
                    </a:ext>
                  </a:extLst>
                </a:gridCol>
                <a:gridCol w="4768646">
                  <a:extLst>
                    <a:ext uri="{9D8B030D-6E8A-4147-A177-3AD203B41FA5}">
                      <a16:colId xmlns:a16="http://schemas.microsoft.com/office/drawing/2014/main" val="1903898947"/>
                    </a:ext>
                  </a:extLst>
                </a:gridCol>
              </a:tblGrid>
              <a:tr h="457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831711"/>
                  </a:ext>
                </a:extLst>
              </a:tr>
              <a:tr h="185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$35,538.86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747487"/>
                  </a:ext>
                </a:extLst>
              </a:tr>
              <a:tr h="185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R²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0.8190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7468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05D90E7-F4DC-FF40-E53C-AE95859B626E}"/>
              </a:ext>
            </a:extLst>
          </p:cNvPr>
          <p:cNvSpPr txBox="1"/>
          <p:nvPr/>
        </p:nvSpPr>
        <p:spPr>
          <a:xfrm>
            <a:off x="731520" y="3305037"/>
            <a:ext cx="1003480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tuned Gradient Boosting model achieved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overall performance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of $35,538.86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a lower prediction error compared with the initial models.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of 0.8190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the model explains approximately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81.9% of the variation in property prices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provides a strong basis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residential property valuation and investment screening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826" y="192387"/>
            <a:ext cx="67173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7C06E-BB6B-CBF1-6E63-BB54D12B250A}"/>
              </a:ext>
            </a:extLst>
          </p:cNvPr>
          <p:cNvSpPr txBox="1"/>
          <p:nvPr/>
        </p:nvSpPr>
        <p:spPr>
          <a:xfrm>
            <a:off x="599768" y="978568"/>
            <a:ext cx="5191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Features Influencing Property Price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0820DD-095C-020A-37B6-DFFAB21C8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716213"/>
              </p:ext>
            </p:extLst>
          </p:nvPr>
        </p:nvGraphicFramePr>
        <p:xfrm>
          <a:off x="521110" y="1761408"/>
          <a:ext cx="579275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9032">
                  <a:extLst>
                    <a:ext uri="{9D8B030D-6E8A-4147-A177-3AD203B41FA5}">
                      <a16:colId xmlns:a16="http://schemas.microsoft.com/office/drawing/2014/main" val="380115600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8450340"/>
                    </a:ext>
                  </a:extLst>
                </a:gridCol>
                <a:gridCol w="1820522">
                  <a:extLst>
                    <a:ext uri="{9D8B030D-6E8A-4147-A177-3AD203B41FA5}">
                      <a16:colId xmlns:a16="http://schemas.microsoft.com/office/drawing/2014/main" val="215384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Importance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677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OverallQual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47.3%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501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GrLivArea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407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TotalBsmtSF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046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GarageArea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022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YearRemodAdd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45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BsmtFinSF1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20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GarageYrBlt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26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1stFlrSF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741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LotArea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61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YearBuilt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03650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183220-DE6F-683A-983F-D7F1E084036A}"/>
              </a:ext>
            </a:extLst>
          </p:cNvPr>
          <p:cNvSpPr txBox="1"/>
          <p:nvPr/>
        </p:nvSpPr>
        <p:spPr>
          <a:xfrm>
            <a:off x="6666271" y="1440233"/>
            <a:ext cx="500461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OverallQual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important feature, with approximately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47.3%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GrLivArea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second strongest feature, with approximately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15.1%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TotalBsmtSF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GarageArea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YearRemodAdd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next important predictors.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and living area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dominant predictive signals.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Basement, garage, renovation, lot size and construction characteristics also contribute to price prediction.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70513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6366" y="1460581"/>
            <a:ext cx="1014295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Acquisition: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predicted price with acquisition cost to identify attractive properties. 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Valuation: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data-driven reference for estimating property value. 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Renovation Strategy: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Prioritize improvements in quality, living area, basement, garage, and modernization. 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Strategy: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predicted price as a reference for setting an initial asking price. 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Screening: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high-value property characteristics and prioritize properties for further analysis. 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Decisions: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reduce the risk of overpaying and supports better investment prioritization. </a:t>
            </a:r>
          </a:p>
          <a:p>
            <a:pPr>
              <a:spcAft>
                <a:spcPts val="1000"/>
              </a:spcAft>
              <a:defRPr sz="1800"/>
            </a:pPr>
            <a:endParaRPr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2652" y="54569"/>
            <a:ext cx="567334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3029" y="929645"/>
            <a:ext cx="5128506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developed a machine learning-based system for predicting residential property prices using historical housing data. Among the models evaluated,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Gradient Boosting Regressor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best performance with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of $35,538.86 and R² of 0.8190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analysis identified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Quality and Living Area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most influential factors affecting property prices. The model can therefore support data-driven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valuation, investment screening, pricing, and acquisition decisions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  <a:defRPr sz="1800"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20367-0C0A-CADB-AE0B-C7DFF35604CD}"/>
              </a:ext>
            </a:extLst>
          </p:cNvPr>
          <p:cNvSpPr txBox="1"/>
          <p:nvPr/>
        </p:nvSpPr>
        <p:spPr>
          <a:xfrm>
            <a:off x="6221988" y="963566"/>
            <a:ext cx="532698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Steps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model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and local real-estate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location,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economic, and market-demand factors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with advanced models such as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and repeated cross-validation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reliability.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or 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practical use.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and retrain the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market conditions change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ABE2B1-59A7-FEB9-718F-5AACBD89C86C}"/>
              </a:ext>
            </a:extLst>
          </p:cNvPr>
          <p:cNvSpPr txBox="1"/>
          <p:nvPr/>
        </p:nvSpPr>
        <p:spPr>
          <a:xfrm>
            <a:off x="3382296" y="2654710"/>
            <a:ext cx="51578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4100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192</TotalTime>
  <Words>1159</Words>
  <Application>Microsoft Office PowerPoint</Application>
  <PresentationFormat>Widescreen</PresentationFormat>
  <Paragraphs>187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Bavishya</dc:creator>
  <cp:keywords/>
  <dc:description>generated using python-pptx</dc:description>
  <cp:lastModifiedBy>bavishyaannam@gmail.com</cp:lastModifiedBy>
  <cp:revision>9</cp:revision>
  <dcterms:created xsi:type="dcterms:W3CDTF">2013-01-27T09:14:16Z</dcterms:created>
  <dcterms:modified xsi:type="dcterms:W3CDTF">2026-09-11T06:06:00Z</dcterms:modified>
  <cp:category/>
</cp:coreProperties>
</file>